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57" r:id="rId2"/>
    <p:sldId id="291" r:id="rId3"/>
    <p:sldId id="281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" TargetMode="External"/><Relationship Id="rId4" Type="http://schemas.openxmlformats.org/officeDocument/2006/relationships/hyperlink" Target="https://www.elsevier.com/en-in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hyperlink" Target="http://tensrflow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8404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Ministry of Education, Government of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889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22376"/>
            <a:ext cx="12188952" cy="64008"/>
          </a:xfrm>
          <a:prstGeom prst="rect">
            <a:avLst/>
          </a:prstGeom>
          <a:solidFill>
            <a:srgbClr val="046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11640312" cy="2468880"/>
          </a:xfrm>
          <a:prstGeom prst="rect">
            <a:avLst/>
          </a:prstGeom>
          <a:solidFill>
            <a:srgbClr val="10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3716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VoiceGuard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601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8FF68"/>
                </a:solidFill>
                <a:latin typeface="Calibr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F5CC"/>
                </a:solidFill>
                <a:latin typeface="Calibri"/>
              </a:rPr>
              <a:t>AI-Powered Real-Time Detection &amp; Prevention of Voice Cloning Impersonation Attacks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0972800" cy="32004"/>
          </a:xfrm>
          <a:prstGeom prst="rect">
            <a:avLst/>
          </a:prstGeom>
          <a:solidFill>
            <a:srgbClr val="9D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760720" cy="566928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8036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A69E"/>
                </a:solidFill>
                <a:latin typeface="Calibri"/>
              </a:rPr>
              <a:t>Problem Statement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906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SIH 1653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5760720" cy="566928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88036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A69E"/>
                </a:solidFill>
                <a:latin typeface="Calibri"/>
              </a:rPr>
              <a:t>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906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Smart Automation &amp; Cybersecurity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93008"/>
            <a:ext cx="5760720" cy="566928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5387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A69E"/>
                </a:solidFill>
                <a:latin typeface="Calibri"/>
              </a:rPr>
              <a:t>PS 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490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493008"/>
            <a:ext cx="5760720" cy="566928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5387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A69E"/>
                </a:solidFill>
                <a:latin typeface="Calibri"/>
              </a:rPr>
              <a:t>Team 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490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VoiceGuard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51376"/>
            <a:ext cx="5760720" cy="566928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19709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A69E"/>
                </a:solidFill>
                <a:latin typeface="Calibri"/>
              </a:rPr>
              <a:t>College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4074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Cambridge Institute of Technology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51376"/>
            <a:ext cx="5760720" cy="566928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19709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DA69E"/>
                </a:solidFill>
                <a:latin typeface="Calibri"/>
              </a:rPr>
              <a:t>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4074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September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66360"/>
            <a:ext cx="11640312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303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8FF68"/>
                </a:solidFill>
                <a:latin typeface="Calibri"/>
              </a:rPr>
              <a:t>Live Demo:  https://frontend-murex-five-37.vercel.app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DA69E"/>
                </a:solidFill>
                <a:latin typeface="Calibri"/>
              </a:rPr>
              <a:t>@SIH 2026  |  Internal Hackathon Submission  | 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91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Team: VoiceGuard AI  |  Slide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12188952" cy="594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"/>
            <a:ext cx="12188952" cy="59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"/>
            <a:ext cx="12188952" cy="59436"/>
          </a:xfrm>
          <a:prstGeom prst="rect">
            <a:avLst/>
          </a:prstGeom>
          <a:solidFill>
            <a:srgbClr val="046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11640312" cy="438912"/>
          </a:xfrm>
          <a:prstGeom prst="rect">
            <a:avLst/>
          </a:prstGeom>
          <a:solidFill>
            <a:srgbClr val="10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04672"/>
            <a:ext cx="9144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FF68"/>
                </a:solidFill>
                <a:latin typeface="Calibri"/>
              </a:rPr>
              <a:t>TITLE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11640312" cy="2651760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A69E"/>
                </a:solidFill>
                <a:latin typeface="Calibri"/>
              </a:rPr>
              <a:t>Problem Statement ID: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444752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SIH 1653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92224"/>
            <a:ext cx="11247120" cy="32004"/>
          </a:xfrm>
          <a:prstGeom prst="rect">
            <a:avLst/>
          </a:prstGeom>
          <a:solidFill>
            <a:srgbClr val="1B3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470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A69E"/>
                </a:solidFill>
                <a:latin typeface="Calibri"/>
              </a:rPr>
              <a:t>Problem Statement Title: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84708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AI-Powered Real-Time Detection and Prevention of Voice Cloning Impersonation Attacks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11247120" cy="32004"/>
          </a:xfrm>
          <a:prstGeom prst="rect">
            <a:avLst/>
          </a:prstGeom>
          <a:solidFill>
            <a:srgbClr val="1B3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4942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A69E"/>
                </a:solidFill>
                <a:latin typeface="Calibri"/>
              </a:rPr>
              <a:t>Theme: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49424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Smart Automation, Cybersecurity &amp; Digital Governance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96896"/>
            <a:ext cx="11247120" cy="32004"/>
          </a:xfrm>
          <a:prstGeom prst="rect">
            <a:avLst/>
          </a:prstGeom>
          <a:solidFill>
            <a:srgbClr val="1B3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5176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A69E"/>
                </a:solidFill>
                <a:latin typeface="Calibri"/>
              </a:rPr>
              <a:t>PS Category: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65176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9232"/>
            <a:ext cx="11247120" cy="32004"/>
          </a:xfrm>
          <a:prstGeom prst="rect">
            <a:avLst/>
          </a:prstGeom>
          <a:solidFill>
            <a:srgbClr val="1B3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A69E"/>
                </a:solidFill>
                <a:latin typeface="Calibri"/>
              </a:rPr>
              <a:t>Team ID: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054096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VG2026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01568"/>
            <a:ext cx="11247120" cy="32004"/>
          </a:xfrm>
          <a:prstGeom prst="rect">
            <a:avLst/>
          </a:prstGeom>
          <a:solidFill>
            <a:srgbClr val="1B3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5643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DA69E"/>
                </a:solidFill>
                <a:latin typeface="Calibri"/>
              </a:rPr>
              <a:t>Team Name: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456432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VoiceGuard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60520"/>
            <a:ext cx="11640312" cy="1325880"/>
          </a:xfrm>
          <a:prstGeom prst="rect">
            <a:avLst/>
          </a:prstGeom>
          <a:solidFill>
            <a:srgbClr val="1B3931"/>
          </a:solidFill>
          <a:ln w="12700">
            <a:solidFill>
              <a:srgbClr val="D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24528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8FF68"/>
                </a:solidFill>
                <a:latin typeface="Calibri"/>
              </a:rPr>
              <a:t>AI-Powered Real-Time Detection &amp;
Prevention of Voice Cloning Impersonation Attacks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623560"/>
            <a:ext cx="283464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669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Calibri"/>
              </a:rPr>
              <a:t>₹2,400 Cr+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007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DA69E"/>
                </a:solidFill>
                <a:latin typeface="Calibri"/>
              </a:rPr>
              <a:t>India voice fraud
loss 2023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5623560"/>
            <a:ext cx="283464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6120" y="5669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Calibri"/>
              </a:rPr>
              <a:t>3.2×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6007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DA69E"/>
                </a:solidFill>
                <a:latin typeface="Calibri"/>
              </a:rPr>
              <a:t>Rise in voice fraud
incidents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623560"/>
            <a:ext cx="283464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669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Calibri"/>
              </a:rPr>
              <a:t>&lt;3 seconds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007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DA69E"/>
                </a:solidFill>
                <a:latin typeface="Calibri"/>
              </a:rPr>
              <a:t>To clone any
human voice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5623560"/>
            <a:ext cx="2834640" cy="777240"/>
          </a:xfrm>
          <a:prstGeom prst="rect">
            <a:avLst/>
          </a:prstGeom>
          <a:solidFill>
            <a:srgbClr val="1A2E4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56692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Calibri"/>
              </a:rPr>
              <a:t>&lt;200ms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6007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DA69E"/>
                </a:solidFill>
                <a:latin typeface="Calibri"/>
              </a:rPr>
              <a:t>VoiceGuard AI
detection speed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DA69E"/>
                </a:solidFill>
                <a:latin typeface="Calibri"/>
              </a:rPr>
              <a:t>Smart India Hackathon 2026  |  Ministry of Education, Govt. of India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0" y="6528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91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Team: VoiceGuard AI  |  Slide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12188952" cy="594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"/>
            <a:ext cx="12188952" cy="59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"/>
            <a:ext cx="12188952" cy="59436"/>
          </a:xfrm>
          <a:prstGeom prst="rect">
            <a:avLst/>
          </a:prstGeom>
          <a:solidFill>
            <a:srgbClr val="046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11640312" cy="438912"/>
          </a:xfrm>
          <a:prstGeom prst="rect">
            <a:avLst/>
          </a:prstGeom>
          <a:solidFill>
            <a:srgbClr val="10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04672"/>
            <a:ext cx="9144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FF68"/>
                </a:solidFill>
                <a:latin typeface="Calibri"/>
              </a:rPr>
              <a:t>IDEA TITLE:  VoiceGuard AI — Real-Time Voice Cloning Defence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577840" cy="5029200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8FF68"/>
                </a:solidFill>
                <a:latin typeface="Calibri"/>
              </a:rPr>
              <a:t>Idea / Solution / Prototype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5120640" cy="32004"/>
          </a:xfrm>
          <a:prstGeom prst="rect">
            <a:avLst/>
          </a:prstGeom>
          <a:solidFill>
            <a:srgbClr val="9D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Empowering banks, enterprises &amp; governments with AI —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VoiceGuard AI detects synthetic/cloned voices in real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time before a fraudulent call causes financial loss.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Upload audio OR use live microphone capture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60+ acoustic features extracted instantly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Evidence v3 Bayesian model → calibrated AI probability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P(AI voice) = sigmoid(Σ Log-Likelihood Ratios)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Scenario-aware risk: Banking/Enterprise/Government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Real-time WebSocket (1-second rolling updates)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Speaker voiceprint enrolment &amp; verification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Privacy-first: ZERO audio stored (DPDP 2023)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▸  Full audit trail with DELETE endpoint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🔗  frontend-murex-five-37.vercel.app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71600"/>
            <a:ext cx="5879592" cy="2377440"/>
          </a:xfrm>
          <a:prstGeom prst="rect">
            <a:avLst/>
          </a:prstGeom>
          <a:solidFill>
            <a:srgbClr val="102B24"/>
          </a:solidFill>
          <a:ln w="12700">
            <a:solidFill>
              <a:srgbClr val="FFA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D62"/>
                </a:solidFill>
                <a:latin typeface="Calibri"/>
              </a:rPr>
              <a:t>Addressing the Problem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55648"/>
            <a:ext cx="5486400" cy="32004"/>
          </a:xfrm>
          <a:prstGeom prst="rect">
            <a:avLst/>
          </a:prstGeom>
          <a:solidFill>
            <a:srgbClr val="FFA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577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Neural TTS (ElevenLabs, Tortoise TTS, YourTTS)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clones any voice from just 3 seconds of audio.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Attackers impersonate CEOs, bankers &amp; officials.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Traditional defences are completely defeated: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  • Caller ID — easily spoofed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  • Voice familiarity — beaten by AI cloning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  • OTP alone — insufficient for high-value calls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India lost ₹2,400 Crore+ to voice fraud in 2023.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VoiceGuard AI is the missing defence layer.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886200"/>
            <a:ext cx="5879592" cy="2514600"/>
          </a:xfrm>
          <a:prstGeom prst="rect">
            <a:avLst/>
          </a:prstGeom>
          <a:solidFill>
            <a:srgbClr val="102B24"/>
          </a:solidFill>
          <a:ln w="12700">
            <a:solidFill>
              <a:srgbClr val="D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8FF68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70248"/>
            <a:ext cx="548640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343400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✦  Log-odds Bayesian model — not arbitrary scoring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✦  Calibrated per ASVspoof research (not guessed)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✦  Language-agnostic: Hindi, Tamil, Telugu all work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✦  10 evidence dimensions working simultaneously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✦  AudioWorklet mic API (modern, no deprecated code)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✦  Full REST + WebSocket — plugs into any system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✦  14/14 automated tests passing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2881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DA69E"/>
                </a:solidFill>
                <a:latin typeface="Calibri"/>
              </a:rPr>
              <a:t>Smart India Hackathon 2026  |  Ministry of Education, Govt. of 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528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91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Team: VoiceGuard AI  |  Slide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12188952" cy="594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"/>
            <a:ext cx="12188952" cy="59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"/>
            <a:ext cx="12188952" cy="59436"/>
          </a:xfrm>
          <a:prstGeom prst="rect">
            <a:avLst/>
          </a:prstGeom>
          <a:solidFill>
            <a:srgbClr val="046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11640312" cy="438912"/>
          </a:xfrm>
          <a:prstGeom prst="rect">
            <a:avLst/>
          </a:prstGeom>
          <a:solidFill>
            <a:srgbClr val="10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04672"/>
            <a:ext cx="9144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FF68"/>
                </a:solidFill>
                <a:latin typeface="Calibri"/>
              </a:rPr>
              <a:t>TECHNICAL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3566160" cy="5029200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F5CC"/>
                </a:solidFill>
                <a:latin typeface="Calibri"/>
              </a:rPr>
              <a:t>Languages &amp; Frameworks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3200400" cy="32004"/>
          </a:xfrm>
          <a:prstGeom prst="rect">
            <a:avLst/>
          </a:prstGeom>
          <a:solidFill>
            <a:srgbClr val="9D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8FF68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2140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Python 3.14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3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6032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NumPy / SciPy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SoundFile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9923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SQLite + 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101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8FF68"/>
                </a:solidFill>
                <a:latin typeface="Calibr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5701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React 18 + Vite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7647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AudioWorklet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9592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WebSocket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1538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Lucide Icons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8FF68"/>
                </a:solidFill>
                <a:latin typeface="Calibri"/>
              </a:rPr>
              <a:t>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7316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Evidence v3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9262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Log-odds Bayes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60+ acoustic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3153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10 evidence dimensions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424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8FF68"/>
                </a:solidFill>
                <a:latin typeface="Calibri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Vercel (frontend)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0877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Railway (backend)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2823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64768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• GitHub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1371600"/>
            <a:ext cx="7891272" cy="5029200"/>
          </a:xfrm>
          <a:prstGeom prst="rect">
            <a:avLst/>
          </a:prstGeom>
          <a:solidFill>
            <a:srgbClr val="102B24"/>
          </a:solidFill>
          <a:ln w="12700">
            <a:solidFill>
              <a:srgbClr val="D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1417320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8FF68"/>
                </a:solidFill>
                <a:latin typeface="Calibri"/>
              </a:rPr>
              <a:t>Working Flowchart — Evidence v3 Detection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1755648"/>
            <a:ext cx="7498079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23360" y="1874519"/>
            <a:ext cx="7863840" cy="640080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41648" y="1993391"/>
            <a:ext cx="411480" cy="411480"/>
          </a:xfrm>
          <a:prstGeom prst="rect">
            <a:avLst/>
          </a:prstGeom>
          <a:solidFill>
            <a:srgbClr val="9D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41648" y="199339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11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9293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DF5CC"/>
                </a:solidFill>
                <a:latin typeface="Calibri"/>
              </a:rPr>
              <a:t>AUDIO INTAKE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21762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DA69E"/>
                </a:solidFill>
                <a:latin typeface="Calibri"/>
              </a:rPr>
              <a:t>Upload .wav/.mp3/.m4a  OR  Live mic via AudioWorklet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46887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DF5CC"/>
                </a:solidFill>
                <a:latin typeface="Calibri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2606039"/>
            <a:ext cx="7863840" cy="640080"/>
          </a:xfrm>
          <a:prstGeom prst="rect">
            <a:avLst/>
          </a:prstGeom>
          <a:solidFill>
            <a:srgbClr val="1B3931"/>
          </a:solidFill>
          <a:ln w="12700">
            <a:solidFill>
              <a:srgbClr val="D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41648" y="2724911"/>
            <a:ext cx="411480" cy="411480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41648" y="272491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11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266090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8FF68"/>
                </a:solidFill>
                <a:latin typeface="Calibri"/>
              </a:rPr>
              <a:t>PREPROCESSING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2907791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DA69E"/>
                </a:solidFill>
                <a:latin typeface="Calibri"/>
              </a:rPr>
              <a:t>Mono → 16kHz resample → 2048-pt Hanning frames → 512-pt hop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320039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8FF68"/>
                </a:solidFill>
                <a:latin typeface="Calibri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3337560"/>
            <a:ext cx="7863840" cy="640080"/>
          </a:xfrm>
          <a:prstGeom prst="rect">
            <a:avLst/>
          </a:prstGeom>
          <a:solidFill>
            <a:srgbClr val="1B3931"/>
          </a:solidFill>
          <a:ln w="12700">
            <a:solidFill>
              <a:srgbClr val="FFA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41648" y="3456432"/>
            <a:ext cx="411480" cy="411480"/>
          </a:xfrm>
          <a:prstGeom prst="rect">
            <a:avLst/>
          </a:prstGeom>
          <a:solidFill>
            <a:srgbClr val="FFA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41648" y="3456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11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33924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D62"/>
                </a:solidFill>
                <a:latin typeface="Calibri"/>
              </a:rPr>
              <a:t>FEATURE EXTRACTION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363931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DA69E"/>
                </a:solidFill>
                <a:latin typeface="Calibri"/>
              </a:rPr>
              <a:t>60+ features: MFCC 1-13, jitter, shimmer, HNR, F0 range,
spectral flux, sub-band ratios, RMS modulation, ZCR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9319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AD62"/>
                </a:solidFill>
                <a:latin typeface="Calibri"/>
              </a:rPr>
              <a:t>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3360" y="4069080"/>
            <a:ext cx="7863840" cy="640080"/>
          </a:xfrm>
          <a:prstGeom prst="rect">
            <a:avLst/>
          </a:prstGeom>
          <a:solidFill>
            <a:srgbClr val="1B3931"/>
          </a:solidFill>
          <a:ln w="12700">
            <a:solidFill>
              <a:srgbClr val="D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41648" y="4187952"/>
            <a:ext cx="411480" cy="411480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41648" y="4187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11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41239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8FF68"/>
                </a:solidFill>
                <a:latin typeface="Calibri"/>
              </a:rPr>
              <a:t>EVIDENCE MODEL v3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437083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DA69E"/>
                </a:solidFill>
                <a:latin typeface="Calibri"/>
              </a:rPr>
              <a:t>LLR accumulated per feature  →  log_odds = Σ LLR_i
P(AI voice) = sigmoid(log_odds)  →  0-100% calibrated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663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8FF68"/>
                </a:solidFill>
                <a:latin typeface="Calibri"/>
              </a:rPr>
              <a:t>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0" y="4800600"/>
            <a:ext cx="7863840" cy="640080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41648" y="4919472"/>
            <a:ext cx="411480" cy="411480"/>
          </a:xfrm>
          <a:prstGeom prst="rect">
            <a:avLst/>
          </a:prstGeom>
          <a:solidFill>
            <a:srgbClr val="9D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41648" y="4919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11"/>
                </a:solidFill>
                <a:latin typeface="Calibr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48554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DF5CC"/>
                </a:solidFill>
                <a:latin typeface="Calibri"/>
              </a:rPr>
              <a:t>RISK ENGINE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510235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DA69E"/>
                </a:solidFill>
                <a:latin typeface="Calibri"/>
              </a:rPr>
              <a:t>Score mapped to LOW/MEDIUM/HIGH/CRITICAL
Different thresholds per scenario: Banking/Enterprise/Govt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53949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DF5CC"/>
                </a:solidFill>
                <a:latin typeface="Calibri"/>
              </a:rPr>
              <a:t>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23360" y="5532120"/>
            <a:ext cx="7863840" cy="640080"/>
          </a:xfrm>
          <a:prstGeom prst="rect">
            <a:avLst/>
          </a:prstGeom>
          <a:solidFill>
            <a:srgbClr val="1B3931"/>
          </a:solidFill>
          <a:ln w="12700">
            <a:solidFill>
              <a:srgbClr val="FF7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41648" y="5650992"/>
            <a:ext cx="411480" cy="411480"/>
          </a:xfrm>
          <a:prstGeom prst="rect">
            <a:avLst/>
          </a:prstGeom>
          <a:solidFill>
            <a:srgbClr val="FF7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41648" y="5650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311"/>
                </a:solidFill>
                <a:latin typeface="Calibri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558698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16D"/>
                </a:solidFill>
                <a:latin typeface="Calibri"/>
              </a:rPr>
              <a:t>ALERT &amp; AUDIT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58338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DA69E"/>
                </a:solidFill>
                <a:latin typeface="Calibri"/>
              </a:rPr>
              <a:t>In-app banner + Email/SMS dispatch
SQLite audit log (WAL) + DELETE /api/history/{id}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652881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DA69E"/>
                </a:solidFill>
                <a:latin typeface="Calibri"/>
              </a:rPr>
              <a:t>Smart India Hackathon 2026  |  Ministry of Education, Govt. of India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04320" y="6528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91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Team: VoiceGuard AI  |  Slide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12188952" cy="594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"/>
            <a:ext cx="12188952" cy="59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"/>
            <a:ext cx="12188952" cy="59436"/>
          </a:xfrm>
          <a:prstGeom prst="rect">
            <a:avLst/>
          </a:prstGeom>
          <a:solidFill>
            <a:srgbClr val="046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11640312" cy="438912"/>
          </a:xfrm>
          <a:prstGeom prst="rect">
            <a:avLst/>
          </a:prstGeom>
          <a:solidFill>
            <a:srgbClr val="10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04672"/>
            <a:ext cx="9144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FF68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3794760" cy="5029200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4173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F5CC"/>
                </a:solidFill>
                <a:latin typeface="Calibri"/>
              </a:rPr>
              <a:t>⚙  Technical Feasibility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1755648"/>
            <a:ext cx="3474720" cy="32004"/>
          </a:xfrm>
          <a:prstGeom prst="rect">
            <a:avLst/>
          </a:prstGeom>
          <a:solidFill>
            <a:srgbClr val="9D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47088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CPU-only — no GPU required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Free tier: Vercel + Railway = ₹0/month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Python + NumPy — no proprietary ML framework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AudioWorklet: works in all modern browsers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SQLite WAL — handles concurrent requests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Docker-ready — deploy anywhere in minutes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14/14 automated tests passing (pytest)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Real-time WebSocket — 1-second updates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Horizontally scalable stateless 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3794760" cy="5029200"/>
          </a:xfrm>
          <a:prstGeom prst="rect">
            <a:avLst/>
          </a:prstGeom>
          <a:solidFill>
            <a:srgbClr val="102B24"/>
          </a:solidFill>
          <a:ln w="12700">
            <a:solidFill>
              <a:srgbClr val="D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173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8FF68"/>
                </a:solidFill>
                <a:latin typeface="Calibri"/>
              </a:rPr>
              <a:t>💰  Financial Viability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755648"/>
            <a:ext cx="347472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847088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Free tier: 50,000 analyses/month at ₹0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Scale: ₹2,500/month for 1M analyses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No per-call ML API cost — self-hosted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Open source stack — zero licensing fees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ROI: 1 prevented fraud = ₹18.5L saved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Break-even at just 1 fraud prevented/month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Enterprise SDK licensing for BFSI revenue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SaaS subscription model for telecoms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Global voice anti-spoofing market: $4.2B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794760" cy="5029200"/>
          </a:xfrm>
          <a:prstGeom prst="rect">
            <a:avLst/>
          </a:prstGeom>
          <a:solidFill>
            <a:srgbClr val="102B24"/>
          </a:solidFill>
          <a:ln w="12700">
            <a:solidFill>
              <a:srgbClr val="FFA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173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D62"/>
                </a:solidFill>
                <a:latin typeface="Calibri"/>
              </a:rPr>
              <a:t>📈  Market Viability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755648"/>
            <a:ext cx="3474720" cy="32004"/>
          </a:xfrm>
          <a:prstGeom prst="rect">
            <a:avLst/>
          </a:prstGeom>
          <a:solidFill>
            <a:srgbClr val="FFA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847088"/>
            <a:ext cx="3520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RBI voice verification guidelines (2023)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DPDP 2023 compliance built-in from day 1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Target: 500M+ daily voice calls in India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NPCI/UPI integration roadmap (Phase 3)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MHA CERT-In partnership potential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Plug-in API for Twilio, Exotel, Ozonetel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Works on mobile, desktop, call centres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Language agnostic — all Indian languages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• Deployable offline (edge/on-premise)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2881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DA69E"/>
                </a:solidFill>
                <a:latin typeface="Calibri"/>
              </a:rPr>
              <a:t>Smart India Hackathon 2026  |  Ministry of Education, Govt. of 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528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91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Team: VoiceGuard AI  |  Slide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12188952" cy="594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"/>
            <a:ext cx="12188952" cy="59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"/>
            <a:ext cx="12188952" cy="59436"/>
          </a:xfrm>
          <a:prstGeom prst="rect">
            <a:avLst/>
          </a:prstGeom>
          <a:solidFill>
            <a:srgbClr val="046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11640312" cy="438912"/>
          </a:xfrm>
          <a:prstGeom prst="rect">
            <a:avLst/>
          </a:prstGeom>
          <a:solidFill>
            <a:srgbClr val="10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04672"/>
            <a:ext cx="9144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FF68"/>
                </a:solidFill>
                <a:latin typeface="Calibri"/>
              </a:rPr>
              <a:t>IMPACT AND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577840" cy="5029200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F5CC"/>
                </a:solidFill>
                <a:latin typeface="Calibri"/>
              </a:rPr>
              <a:t>Potential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5212080" cy="32004"/>
          </a:xfrm>
          <a:prstGeom prst="rect">
            <a:avLst/>
          </a:prstGeom>
          <a:solidFill>
            <a:srgbClr val="9D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8FF68"/>
                </a:solidFill>
                <a:latin typeface="Calibri"/>
              </a:rPr>
              <a:t>🏦  Banking 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21408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Detects synthetic CEO/CFO impersonation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31720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before wire transfer authorisation.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42032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Prevents avg ₹18.5L loss per incident.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52344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Integrates with existing call centres.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99815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8FF68"/>
                </a:solidFill>
                <a:latin typeface="Calibri"/>
              </a:rPr>
              <a:t>🏢  Enterprise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46703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Stops CEO fraud (BEC) in real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57015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Protects M&amp;A and board communications.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67328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WebSocket API: plug into Teams/Zoom.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8FF68"/>
                </a:solidFill>
                <a:latin typeface="Calibri"/>
              </a:rPr>
              <a:t>🏛  Government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61688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Protects officials from impersonation.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Secures sensitive policy communications.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82312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Supports PM Cybersecurity Mission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29784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8FF68"/>
                </a:solidFill>
                <a:latin typeface="Calibri"/>
              </a:rPr>
              <a:t>👨‍💼  Citizens &amp; Call Centres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76672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Alerts agents before fraud happens.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86984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No user action needed — background check.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97296"/>
            <a:ext cx="5120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 Works on any call, any Indian language.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371600"/>
            <a:ext cx="5879592" cy="2423160"/>
          </a:xfrm>
          <a:prstGeom prst="rect">
            <a:avLst/>
          </a:prstGeom>
          <a:solidFill>
            <a:srgbClr val="102B24"/>
          </a:solidFill>
          <a:ln w="12700">
            <a:solidFill>
              <a:srgbClr val="D8F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4173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FF68"/>
                </a:solidFill>
                <a:latin typeface="Calibri"/>
              </a:rPr>
              <a:t>Social Benefits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755648"/>
            <a:ext cx="548640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828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Empowers agents with real-time verdicts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Reduces social engineering pressure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Builds trust in digital voice channels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Accessible to non-technical users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Supports India's safe digital economy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931920"/>
            <a:ext cx="5879592" cy="1188720"/>
          </a:xfrm>
          <a:prstGeom prst="rect">
            <a:avLst/>
          </a:prstGeom>
          <a:solidFill>
            <a:srgbClr val="102B24"/>
          </a:solidFill>
          <a:ln w="12700">
            <a:solidFill>
              <a:srgbClr val="FFA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977639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D62"/>
                </a:solidFill>
                <a:latin typeface="Calibri"/>
              </a:rPr>
              <a:t>Economic Benefits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315968"/>
            <a:ext cx="5486400" cy="32004"/>
          </a:xfrm>
          <a:prstGeom prst="rect">
            <a:avLst/>
          </a:prstGeom>
          <a:solidFill>
            <a:srgbClr val="FFA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389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Prevents ₹2,400 Cr+ annual fraud loss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₹0 infra cost on free tier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1 prevented fraud = 12 months of ROI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257800"/>
            <a:ext cx="5879592" cy="1143000"/>
          </a:xfrm>
          <a:prstGeom prst="rect">
            <a:avLst/>
          </a:prstGeom>
          <a:solidFill>
            <a:srgbClr val="102B24"/>
          </a:solidFill>
          <a:ln w="12700">
            <a:solidFill>
              <a:srgbClr val="FF7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3035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16D"/>
                </a:solidFill>
                <a:latin typeface="Calibri"/>
              </a:rPr>
              <a:t>Environmental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641848"/>
            <a:ext cx="5486400" cy="32004"/>
          </a:xfrm>
          <a:prstGeom prst="rect">
            <a:avLst/>
          </a:prstGeom>
          <a:solidFill>
            <a:srgbClr val="FF71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7150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CPU-only — minimal energy footprint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Reduces fraud investigation overhead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No physical infrastructure required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DA69E"/>
                </a:solidFill>
                <a:latin typeface="Calibri"/>
              </a:rPr>
              <a:t>Smart India Hackathon 2026  |  Ministry of Education, Govt. of India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0" y="6528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91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Team: VoiceGuard AI  |  Slide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12188952" cy="594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08076"/>
            <a:ext cx="12188952" cy="59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"/>
            <a:ext cx="12188952" cy="59436"/>
          </a:xfrm>
          <a:prstGeom prst="rect">
            <a:avLst/>
          </a:prstGeom>
          <a:solidFill>
            <a:srgbClr val="046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04672"/>
            <a:ext cx="11640312" cy="438912"/>
          </a:xfrm>
          <a:prstGeom prst="rect">
            <a:avLst/>
          </a:prstGeom>
          <a:solidFill>
            <a:srgbClr val="10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04672"/>
            <a:ext cx="91440" cy="32004"/>
          </a:xfrm>
          <a:prstGeom prst="rect">
            <a:avLst/>
          </a:prstGeom>
          <a:solidFill>
            <a:srgbClr val="D8F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8FF68"/>
                </a:solidFill>
                <a:latin typeface="Calibri"/>
              </a:rPr>
              <a:t>RESEARCH AND 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11640312" cy="38404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  <a:latin typeface="Calibri"/>
              </a:rPr>
              <a:t>Details / Links of reference and research work used in building VoiceGuard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92807"/>
            <a:ext cx="11640312" cy="402336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293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1.  ASVspoof 2019/2021/2024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9293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Benchmark for anti-spoofing countermeasures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9293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https://www.asvspoof.org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50008"/>
            <a:ext cx="11640312" cy="402336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386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2.  AASIST — Integrated Spectro-Temporal (Jung et al., ICASSP 2022)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3865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State-of-art anti-spoofing model — basis for feature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3865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https://arxiv.org/abs/2110.01200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07208"/>
            <a:ext cx="11640312" cy="402336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8437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3.  RawNet2 — Raw Waveform Spoofing (Tak et al., Interspeech 2021)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8437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End-to-end spoofing detection — evidence weight calibration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8437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https://arxiv.org/abs/2011.01108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64408"/>
            <a:ext cx="11640312" cy="402336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3009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4.  Jitter &amp; Shimmer Reference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3009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Titze (1994), Baken &amp; Orlikoff (2000) — vocal perturbation norms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3009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National Center for Voice and Speech, 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21608"/>
            <a:ext cx="11640312" cy="402336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7581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5.  HNR Norms — Boersma (1993)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7581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Accurate short-term analysis of fundamental frequency and HNR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7581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https://www.fon.hum.uva.nl/paul/papers/boersma93.pdf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78808"/>
            <a:ext cx="11640312" cy="402336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42153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6.  Spectral Flux &amp; TTS Characterisation — Müller et al. (2022)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2153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Differentiating neural TTS from human speech spectrally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2153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Elsevier Speech Communication Journal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636008"/>
            <a:ext cx="11640312" cy="402336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672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7.  DPDP 2023 — Digital Personal Data Protection 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46725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Government of India — data minimisation &amp; privacy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6725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https://www.meity.gov.in/data-protection-framework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093208"/>
            <a:ext cx="11640312" cy="402336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51297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8.  RBI Voice Fraud Advisory (2023)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51297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Reserve Bank of India guidelines on voice-based financial fraud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51297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https://www.rbi.org.in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550408"/>
            <a:ext cx="11640312" cy="402336"/>
          </a:xfrm>
          <a:prstGeom prst="rect">
            <a:avLst/>
          </a:prstGeom>
          <a:solidFill>
            <a:srgbClr val="1B3931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55869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9.  FastAPI Documentation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55869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High-performance async Python web framework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55869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https://fastapi.tiangolo.com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007608"/>
            <a:ext cx="11640312" cy="402336"/>
          </a:xfrm>
          <a:prstGeom prst="rect">
            <a:avLst/>
          </a:prstGeom>
          <a:solidFill>
            <a:srgbClr val="102B24"/>
          </a:solidFill>
          <a:ln w="12700">
            <a:solidFill>
              <a:srgbClr val="9DF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60441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F5CC"/>
                </a:solidFill>
                <a:latin typeface="Calibri"/>
              </a:rPr>
              <a:t>10.  ElevenLabs / Tortoise TTS / YourTTS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60441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Voice cloning systems used to test VoiceGuard detection accuracy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60441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8FF68"/>
                </a:solidFill>
                <a:latin typeface="Calibri"/>
              </a:rPr>
              <a:t>https://elevenlabs.io  |  github.com/neonbjb/tortoise-tts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2881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DA69E"/>
                </a:solidFill>
                <a:latin typeface="Calibri"/>
              </a:rPr>
              <a:t>Smart India Hackathon 2026  |  Ministry of Education, Govt. of India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04320" y="6528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718</Words>
  <Application>Microsoft Office PowerPoint</Application>
  <PresentationFormat>Widescreen</PresentationFormat>
  <Paragraphs>117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MS PGothic</vt:lpstr>
      <vt:lpstr>Arial</vt:lpstr>
      <vt:lpstr>Calibri</vt:lpstr>
      <vt:lpstr>Garamond</vt:lpstr>
      <vt:lpstr>montserratbold</vt:lpstr>
      <vt:lpstr>Times New Roman</vt:lpstr>
      <vt:lpstr>TradeGothic</vt:lpstr>
      <vt:lpstr>Wingdings</vt:lpstr>
      <vt:lpstr>Office Theme</vt:lpstr>
      <vt:lpstr>CAMBRIDGE INSTITUE OF TECHNOLOGY NORTH CAMPUS, BENGALURU KARNATAKA</vt:lpstr>
      <vt:lpstr>SMART INDIA HACKATHON 2024</vt:lpstr>
      <vt:lpstr> IDEA TITLE:- AI-Driven Crop Disease Prediction and Management System 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Mahantesh S Karadi</cp:lastModifiedBy>
  <cp:revision>187</cp:revision>
  <dcterms:created xsi:type="dcterms:W3CDTF">2013-12-12T18:46:00Z</dcterms:created>
  <dcterms:modified xsi:type="dcterms:W3CDTF">2024-09-13T16:24:13Z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586D248B1DA34DC1A16B3632C66CFAFE_13</vt:lpwstr>
  </property>
  <property fmtid="{D5CDD505-2E9C-101B-9397-08002B2CF9AE}" pid="3" name="KSOProductBuildVer">
    <vt:lpwstr>1033-12.2.0.18283</vt:lpwstr>
  </property>
</Properties>
</file>